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defPPr lvl="0"/>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2EFA1F8C-B10B-C84D-94FC-B3DA01C1C208}" type="datetimeFigureOut">
              <a:rPr lang="en-US" smtClean="0"/>
              <a:t>10/23/2026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20902761-92A6-8544-9B98-D45CEE3CC886}" type="slidenum">
              <a:rPr lang="en-US" smtClean="0"/>
              <a:t>‹#›</a:t>
            </a:fld>
            <a:endParaRPr lang="en-US"/>
          </a:p>
        </p:txBody>
      </p:sp>
    </p:spTree>
    <p:extLst>
      <p:ext uri="{BB962C8B-B14F-4D97-AF65-F5344CB8AC3E}">
        <p14:creationId xmlns:p14="http://schemas.microsoft.com/office/powerpoint/2010/main" val="3504636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DDE2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BD1F5"/>
          </a:solidFill>
          <a:ln w="12700">
            <a:solidFill>
              <a:srgbClr val="CBD1F5"/>
            </a:solidFill>
            <a:prstDash val="solid"/>
          </a:ln>
        </p:spPr>
      </p:sp>
      <p:sp>
        <p:nvSpPr>
          <p:cNvPr id="3" name="Shape 1"/>
          <p:cNvSpPr/>
          <p:nvPr/>
        </p:nvSpPr>
        <p:spPr>
          <a:xfrm>
            <a:off x="0" y="658368"/>
            <a:ext cx="3054096" cy="45720"/>
          </a:xfrm>
          <a:prstGeom prst="rect">
            <a:avLst/>
          </a:prstGeom>
          <a:solidFill>
            <a:srgbClr val="7C93F0"/>
          </a:solidFill>
          <a:ln w="12700">
            <a:solidFill>
              <a:srgbClr val="7C93F0"/>
            </a:solidFill>
            <a:prstDash val="solid"/>
          </a:ln>
        </p:spPr>
      </p:sp>
      <p:sp>
        <p:nvSpPr>
          <p:cNvPr id="4" name="Shape 2"/>
          <p:cNvSpPr/>
          <p:nvPr/>
        </p:nvSpPr>
        <p:spPr>
          <a:xfrm>
            <a:off x="3054096" y="658368"/>
            <a:ext cx="3054096" cy="45720"/>
          </a:xfrm>
          <a:prstGeom prst="rect">
            <a:avLst/>
          </a:prstGeom>
          <a:solidFill>
            <a:srgbClr val="E8639F"/>
          </a:solidFill>
          <a:ln w="12700">
            <a:solidFill>
              <a:srgbClr val="E8639F"/>
            </a:solidFill>
            <a:prstDash val="solid"/>
          </a:ln>
        </p:spPr>
      </p:sp>
      <p:sp>
        <p:nvSpPr>
          <p:cNvPr id="5" name="Shape 3"/>
          <p:cNvSpPr/>
          <p:nvPr/>
        </p:nvSpPr>
        <p:spPr>
          <a:xfrm>
            <a:off x="6099048" y="658368"/>
            <a:ext cx="3054096" cy="45720"/>
          </a:xfrm>
          <a:prstGeom prst="rect">
            <a:avLst/>
          </a:prstGeom>
          <a:solidFill>
            <a:srgbClr val="5B3BA8"/>
          </a:solidFill>
          <a:ln w="12700">
            <a:solidFill>
              <a:srgbClr val="5B3BA8"/>
            </a:solidFill>
            <a:prstDash val="solid"/>
          </a:ln>
        </p:spPr>
      </p:sp>
      <p:pic>
        <p:nvPicPr>
          <p:cNvPr id="6" name="Image 0" descr="vtu_c.png"/>
          <p:cNvPicPr>
            <a:picLocks noChangeAspect="1"/>
          </p:cNvPicPr>
          <p:nvPr/>
        </p:nvPicPr>
        <p:blipFill>
          <a:blip r:embed="rId2"/>
          <a:stretch>
            <a:fillRect/>
          </a:stretch>
        </p:blipFill>
        <p:spPr>
          <a:xfrm>
            <a:off x="365760" y="91440"/>
            <a:ext cx="475488" cy="475488"/>
          </a:xfrm>
          <a:prstGeom prst="rect">
            <a:avLst/>
          </a:prstGeom>
        </p:spPr>
      </p:pic>
      <p:sp>
        <p:nvSpPr>
          <p:cNvPr id="7" name="Text 4"/>
          <p:cNvSpPr/>
          <p:nvPr/>
        </p:nvSpPr>
        <p:spPr>
          <a:xfrm>
            <a:off x="932688" y="91440"/>
            <a:ext cx="3108960" cy="237744"/>
          </a:xfrm>
          <a:prstGeom prst="rect">
            <a:avLst/>
          </a:prstGeom>
          <a:noFill/>
          <a:ln/>
        </p:spPr>
        <p:txBody>
          <a:bodyPr wrap="square" lIns="0" tIns="0" rIns="0" bIns="0" rtlCol="0" anchor="b"/>
          <a:lstStyle/>
          <a:p>
            <a:pPr marL="0" indent="0">
              <a:buNone/>
            </a:pPr>
            <a:r>
              <a:rPr lang="en-US" sz="950" b="1" dirty="0">
                <a:solidFill>
                  <a:srgbClr val="2E1B5B"/>
                </a:solidFill>
                <a:latin typeface="Nirmala UI" pitchFamily="34" charset="0"/>
                <a:ea typeface="Nirmala UI" pitchFamily="34" charset="-122"/>
                <a:cs typeface="Nirmala UI" pitchFamily="34" charset="-120"/>
              </a:rPr>
              <a:t>ವಿಶ್ವೇಶ್ವರಯ್ಯ ತಾಂತ್ರಿಕ ವಿಶ್ವವಿದ್ಯಾಲಯ, ಬೆಳಗಾವಿ</a:t>
            </a:r>
            <a:endParaRPr lang="en-US" sz="950" dirty="0"/>
          </a:p>
        </p:txBody>
      </p:sp>
      <p:sp>
        <p:nvSpPr>
          <p:cNvPr id="8" name="Text 5"/>
          <p:cNvSpPr/>
          <p:nvPr/>
        </p:nvSpPr>
        <p:spPr>
          <a:xfrm>
            <a:off x="932688" y="338328"/>
            <a:ext cx="3108960" cy="237744"/>
          </a:xfrm>
          <a:prstGeom prst="rect">
            <a:avLst/>
          </a:prstGeom>
          <a:noFill/>
          <a:ln/>
        </p:spPr>
        <p:txBody>
          <a:bodyPr wrap="square" lIns="0" tIns="0" rIns="0" bIns="0" rtlCol="0" anchor="t"/>
          <a:lstStyle/>
          <a:p>
            <a:pPr marL="0" indent="0">
              <a:buNone/>
            </a:pPr>
            <a:r>
              <a:rPr lang="en-US" sz="950" b="1" dirty="0">
                <a:solidFill>
                  <a:srgbClr val="2E1B5B"/>
                </a:solidFill>
                <a:latin typeface="Calibri" pitchFamily="34" charset="0"/>
                <a:ea typeface="Calibri" pitchFamily="34" charset="-122"/>
                <a:cs typeface="Calibri" pitchFamily="34" charset="-120"/>
              </a:rPr>
              <a:t>Visvesvaraya Technological University, Belagavi</a:t>
            </a:r>
            <a:endParaRPr lang="en-US" sz="950" dirty="0"/>
          </a:p>
        </p:txBody>
      </p:sp>
      <p:pic>
        <p:nvPicPr>
          <p:cNvPr id="9" name="Image 1" descr="quc_d.png"/>
          <p:cNvPicPr>
            <a:picLocks noChangeAspect="1"/>
          </p:cNvPicPr>
          <p:nvPr/>
        </p:nvPicPr>
        <p:blipFill>
          <a:blip r:embed="rId3"/>
          <a:stretch>
            <a:fillRect/>
          </a:stretch>
        </p:blipFill>
        <p:spPr>
          <a:xfrm>
            <a:off x="4261104" y="91440"/>
            <a:ext cx="612648" cy="475488"/>
          </a:xfrm>
          <a:prstGeom prst="rect">
            <a:avLst/>
          </a:prstGeom>
        </p:spPr>
      </p:pic>
      <p:sp>
        <p:nvSpPr>
          <p:cNvPr id="10" name="Text 6"/>
          <p:cNvSpPr/>
          <p:nvPr/>
        </p:nvSpPr>
        <p:spPr>
          <a:xfrm>
            <a:off x="5394960" y="109728"/>
            <a:ext cx="2788920" cy="256032"/>
          </a:xfrm>
          <a:prstGeom prst="rect">
            <a:avLst/>
          </a:prstGeom>
          <a:noFill/>
          <a:ln/>
        </p:spPr>
        <p:txBody>
          <a:bodyPr wrap="square" lIns="0" tIns="0" rIns="0" bIns="0" rtlCol="0" anchor="ctr"/>
          <a:lstStyle/>
          <a:p>
            <a:pPr marL="0" indent="0" algn="r">
              <a:buNone/>
            </a:pPr>
            <a:r>
              <a:rPr lang="en-US" sz="1100" b="1" kern="0" spc="200" dirty="0">
                <a:solidFill>
                  <a:srgbClr val="2E1B5B"/>
                </a:solidFill>
              </a:rPr>
              <a:t>QISKIT FALL FEST 2026</a:t>
            </a:r>
            <a:endParaRPr lang="en-US" sz="1100" dirty="0"/>
          </a:p>
        </p:txBody>
      </p:sp>
      <p:sp>
        <p:nvSpPr>
          <p:cNvPr id="11" name="Text 7"/>
          <p:cNvSpPr/>
          <p:nvPr/>
        </p:nvSpPr>
        <p:spPr>
          <a:xfrm>
            <a:off x="5394960" y="365760"/>
            <a:ext cx="2788920" cy="201168"/>
          </a:xfrm>
          <a:prstGeom prst="rect">
            <a:avLst/>
          </a:prstGeom>
          <a:noFill/>
          <a:ln/>
        </p:spPr>
        <p:txBody>
          <a:bodyPr wrap="square" lIns="0" tIns="0" rIns="0" bIns="0" rtlCol="0" anchor="ctr"/>
          <a:lstStyle/>
          <a:p>
            <a:pPr marL="0" indent="0" algn="r">
              <a:buNone/>
            </a:pPr>
            <a:r>
              <a:rPr lang="en-US" sz="950" b="1" kern="0" spc="100" dirty="0">
                <a:solidFill>
                  <a:srgbClr val="5B3BA8"/>
                </a:solidFill>
              </a:rPr>
              <a:t>IBM Quantum</a:t>
            </a:r>
            <a:endParaRPr lang="en-US" sz="950" dirty="0"/>
          </a:p>
        </p:txBody>
      </p:sp>
      <p:pic>
        <p:nvPicPr>
          <p:cNvPr id="12" name="Image 2" descr="badge_c.png"/>
          <p:cNvPicPr>
            <a:picLocks noChangeAspect="1"/>
          </p:cNvPicPr>
          <p:nvPr/>
        </p:nvPicPr>
        <p:blipFill>
          <a:blip r:embed="rId4"/>
          <a:stretch>
            <a:fillRect/>
          </a:stretch>
        </p:blipFill>
        <p:spPr>
          <a:xfrm>
            <a:off x="8302752" y="91440"/>
            <a:ext cx="475488" cy="475488"/>
          </a:xfrm>
          <a:prstGeom prst="rect">
            <a:avLst/>
          </a:prstGeom>
        </p:spPr>
      </p:pic>
      <p:sp>
        <p:nvSpPr>
          <p:cNvPr id="13" name="Shape 8"/>
          <p:cNvSpPr/>
          <p:nvPr/>
        </p:nvSpPr>
        <p:spPr>
          <a:xfrm>
            <a:off x="0" y="4828032"/>
            <a:ext cx="9144000" cy="315468"/>
          </a:xfrm>
          <a:prstGeom prst="rect">
            <a:avLst/>
          </a:prstGeom>
          <a:solidFill>
            <a:srgbClr val="CBD1F5"/>
          </a:solidFill>
          <a:ln w="12700">
            <a:solidFill>
              <a:srgbClr val="CBD1F5"/>
            </a:solidFill>
            <a:prstDash val="solid"/>
          </a:ln>
        </p:spPr>
      </p:sp>
      <p:sp>
        <p:nvSpPr>
          <p:cNvPr id="14" name="Shape 9"/>
          <p:cNvSpPr/>
          <p:nvPr/>
        </p:nvSpPr>
        <p:spPr>
          <a:xfrm>
            <a:off x="0" y="4828032"/>
            <a:ext cx="3054096" cy="36576"/>
          </a:xfrm>
          <a:prstGeom prst="rect">
            <a:avLst/>
          </a:prstGeom>
          <a:solidFill>
            <a:srgbClr val="7C93F0"/>
          </a:solidFill>
          <a:ln w="12700">
            <a:solidFill>
              <a:srgbClr val="7C93F0"/>
            </a:solidFill>
            <a:prstDash val="solid"/>
          </a:ln>
        </p:spPr>
      </p:sp>
      <p:sp>
        <p:nvSpPr>
          <p:cNvPr id="15" name="Shape 10"/>
          <p:cNvSpPr/>
          <p:nvPr/>
        </p:nvSpPr>
        <p:spPr>
          <a:xfrm>
            <a:off x="3054096" y="4828032"/>
            <a:ext cx="3054096" cy="36576"/>
          </a:xfrm>
          <a:prstGeom prst="rect">
            <a:avLst/>
          </a:prstGeom>
          <a:solidFill>
            <a:srgbClr val="E8639F"/>
          </a:solidFill>
          <a:ln w="12700">
            <a:solidFill>
              <a:srgbClr val="E8639F"/>
            </a:solidFill>
            <a:prstDash val="solid"/>
          </a:ln>
        </p:spPr>
      </p:sp>
      <p:sp>
        <p:nvSpPr>
          <p:cNvPr id="16" name="Shape 11"/>
          <p:cNvSpPr/>
          <p:nvPr/>
        </p:nvSpPr>
        <p:spPr>
          <a:xfrm>
            <a:off x="6099048" y="4828032"/>
            <a:ext cx="3054096" cy="36576"/>
          </a:xfrm>
          <a:prstGeom prst="rect">
            <a:avLst/>
          </a:prstGeom>
          <a:solidFill>
            <a:srgbClr val="5B3BA8"/>
          </a:solidFill>
          <a:ln w="12700">
            <a:solidFill>
              <a:srgbClr val="5B3BA8"/>
            </a:solidFill>
            <a:prstDash val="solid"/>
          </a:ln>
        </p:spPr>
      </p:sp>
      <p:sp>
        <p:nvSpPr>
          <p:cNvPr id="17" name="Text 12"/>
          <p:cNvSpPr/>
          <p:nvPr/>
        </p:nvSpPr>
        <p:spPr>
          <a:xfrm>
            <a:off x="457200" y="4864608"/>
            <a:ext cx="5029200" cy="274320"/>
          </a:xfrm>
          <a:prstGeom prst="rect">
            <a:avLst/>
          </a:prstGeom>
          <a:noFill/>
          <a:ln/>
        </p:spPr>
        <p:txBody>
          <a:bodyPr wrap="square" lIns="0" tIns="0" rIns="0" bIns="0" rtlCol="0" anchor="ctr"/>
          <a:lstStyle/>
          <a:p>
            <a:pPr marL="0" indent="0">
              <a:buNone/>
            </a:pPr>
            <a:r>
              <a:rPr lang="en-US" sz="850" b="1" kern="0" spc="200" dirty="0">
                <a:solidFill>
                  <a:srgbClr val="2E1B5B"/>
                </a:solidFill>
              </a:rPr>
              <a:t>QISKIT FALL FEST 2026  ·  HOSTED BY VTU, BELAGAVI</a:t>
            </a:r>
            <a:endParaRPr lang="en-US" sz="850" dirty="0"/>
          </a:p>
        </p:txBody>
      </p:sp>
      <p:sp>
        <p:nvSpPr>
          <p:cNvPr id="18" name="Text 13"/>
          <p:cNvSpPr/>
          <p:nvPr/>
        </p:nvSpPr>
        <p:spPr>
          <a:xfrm>
            <a:off x="5943600" y="4864608"/>
            <a:ext cx="2194560" cy="274320"/>
          </a:xfrm>
          <a:prstGeom prst="rect">
            <a:avLst/>
          </a:prstGeom>
          <a:noFill/>
          <a:ln/>
        </p:spPr>
        <p:txBody>
          <a:bodyPr wrap="square" lIns="0" tIns="0" rIns="0" bIns="0" rtlCol="0" anchor="ctr"/>
          <a:lstStyle/>
          <a:p>
            <a:pPr marL="0" indent="0" algn="r">
              <a:buNone/>
            </a:pPr>
            <a:r>
              <a:rPr lang="en-US" sz="850" b="1" kern="0" spc="200" dirty="0">
                <a:solidFill>
                  <a:srgbClr val="5B3BA8"/>
                </a:solidFill>
              </a:rPr>
              <a:t>27 – 31 OCT 2026</a:t>
            </a:r>
            <a:endParaRPr lang="en-US" sz="850" dirty="0"/>
          </a:p>
        </p:txBody>
      </p:sp>
      <p:pic>
        <p:nvPicPr>
          <p:cNvPr id="19" name="Image 3" descr="sphere.png"/>
          <p:cNvPicPr>
            <a:picLocks noChangeAspect="1"/>
          </p:cNvPicPr>
          <p:nvPr/>
        </p:nvPicPr>
        <p:blipFill>
          <a:blip r:embed="rId5"/>
          <a:stretch>
            <a:fillRect/>
          </a:stretch>
        </p:blipFill>
        <p:spPr>
          <a:xfrm>
            <a:off x="7909560" y="822960"/>
            <a:ext cx="777240" cy="777240"/>
          </a:xfrm>
          <a:prstGeom prst="rect">
            <a:avLst/>
          </a:prstGeom>
        </p:spPr>
      </p:pic>
      <p:pic>
        <p:nvPicPr>
          <p:cNvPr id="20" name="Image 4" descr="bird1.png"/>
          <p:cNvPicPr>
            <a:picLocks noChangeAspect="1"/>
          </p:cNvPicPr>
          <p:nvPr/>
        </p:nvPicPr>
        <p:blipFill>
          <a:blip r:embed="rId6"/>
          <a:stretch>
            <a:fillRect/>
          </a:stretch>
        </p:blipFill>
        <p:spPr>
          <a:xfrm>
            <a:off x="7086600" y="868680"/>
            <a:ext cx="548640" cy="329184"/>
          </a:xfrm>
          <a:prstGeom prst="rect">
            <a:avLst/>
          </a:prstGeom>
        </p:spPr>
      </p:pic>
      <p:pic>
        <p:nvPicPr>
          <p:cNvPr id="21" name="Image 5" descr="bird2.png"/>
          <p:cNvPicPr>
            <a:picLocks noChangeAspect="1"/>
          </p:cNvPicPr>
          <p:nvPr/>
        </p:nvPicPr>
        <p:blipFill>
          <a:blip r:embed="rId7"/>
          <a:stretch>
            <a:fillRect/>
          </a:stretch>
        </p:blipFill>
        <p:spPr>
          <a:xfrm>
            <a:off x="6903720" y="1261872"/>
            <a:ext cx="384048" cy="228600"/>
          </a:xfrm>
          <a:prstGeom prst="rect">
            <a:avLst/>
          </a:prstGeom>
        </p:spPr>
      </p:pic>
      <p:sp>
        <p:nvSpPr>
          <p:cNvPr id="22" name="Text 14"/>
          <p:cNvSpPr>
            <a:spLocks noGrp="1"/>
          </p:cNvSpPr>
          <p:nvPr>
            <p:ph type="title" idx="120" hasCustomPrompt="1"/>
          </p:nvPr>
        </p:nvSpPr>
        <p:spPr>
          <a:xfrm>
            <a:off x="457200" y="841248"/>
            <a:ext cx="6309360" cy="594360"/>
          </a:xfrm>
          <a:prstGeom prst="rect">
            <a:avLst/>
          </a:prstGeom>
          <a:noFill/>
          <a:ln/>
        </p:spPr>
        <p:txBody>
          <a:bodyPr wrap="square" rtlCol="0"/>
          <a:lstStyle>
            <a:lvl1pPr marL="0" indent="0" algn="l">
              <a:buNone/>
              <a:defRPr lang="en-US" sz="2600" b="1" dirty="0">
                <a:solidFill>
                  <a:srgbClr val="2E1B5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329184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PARTICIPANT PRESENTATION</a:t>
            </a:r>
            <a:endParaRPr lang="en-US" sz="1000" dirty="0"/>
          </a:p>
        </p:txBody>
      </p:sp>
      <p:sp>
        <p:nvSpPr>
          <p:cNvPr id="3" name="Text 1"/>
          <p:cNvSpPr txBox="1"/>
          <p:nvPr/>
        </p:nvSpPr>
        <p:spPr>
          <a:xfrm>
            <a:off x="457200" y="1234440"/>
            <a:ext cx="3383280" cy="1645920"/>
          </a:xfrm>
          <a:prstGeom prst="rect">
            <a:avLst/>
          </a:prstGeom>
          <a:noFill/>
          <a:ln/>
        </p:spPr>
        <p:txBody>
          <a:bodyPr wrap="square" lIns="0" tIns="0" rIns="0" bIns="0" rtlCol="0" anchor="t"/>
          <a:lstStyle/>
          <a:p>
            <a:pPr marL="0" indent="0">
              <a:buNone/>
            </a:pPr>
            <a:r>
              <a:rPr lang="en-US" sz="3800" b="1" dirty="0">
                <a:solidFill>
                  <a:srgbClr val="2E1B5B"/>
                </a:solidFill>
                <a:latin typeface="Georgia" pitchFamily="34" charset="0"/>
                <a:ea typeface="Georgia" pitchFamily="34" charset="-122"/>
                <a:cs typeface="Georgia" pitchFamily="34" charset="-120"/>
              </a:rPr>
              <a:t>Qiskit</a:t>
            </a:r>
            <a:endParaRPr lang="en-US" sz="3800" dirty="0"/>
          </a:p>
          <a:p>
            <a:pPr marL="0" indent="0">
              <a:buNone/>
            </a:pPr>
            <a:r>
              <a:rPr lang="en-US" sz="3800" b="1" dirty="0">
                <a:solidFill>
                  <a:srgbClr val="E8639F"/>
                </a:solidFill>
                <a:latin typeface="Georgia" pitchFamily="34" charset="0"/>
                <a:ea typeface="Georgia" pitchFamily="34" charset="-122"/>
                <a:cs typeface="Georgia" pitchFamily="34" charset="-120"/>
              </a:rPr>
              <a:t>Fall Fest</a:t>
            </a:r>
            <a:endParaRPr lang="en-US" sz="3800" dirty="0"/>
          </a:p>
          <a:p>
            <a:pPr marL="0" indent="0">
              <a:buNone/>
            </a:pPr>
            <a:r>
              <a:rPr lang="en-US" sz="3800" b="1" dirty="0">
                <a:solidFill>
                  <a:srgbClr val="2E1B5B"/>
                </a:solidFill>
                <a:latin typeface="Georgia" pitchFamily="34" charset="0"/>
                <a:ea typeface="Georgia" pitchFamily="34" charset="-122"/>
                <a:cs typeface="Georgia" pitchFamily="34" charset="-120"/>
              </a:rPr>
              <a:t>2026</a:t>
            </a:r>
            <a:endParaRPr lang="en-US" sz="3800" dirty="0"/>
          </a:p>
        </p:txBody>
      </p:sp>
      <p:sp>
        <p:nvSpPr>
          <p:cNvPr id="4" name="Text 2"/>
          <p:cNvSpPr txBox="1"/>
          <p:nvPr/>
        </p:nvSpPr>
        <p:spPr>
          <a:xfrm>
            <a:off x="457200" y="3017520"/>
            <a:ext cx="3291840" cy="274320"/>
          </a:xfrm>
          <a:prstGeom prst="rect">
            <a:avLst/>
          </a:prstGeom>
          <a:noFill/>
          <a:ln/>
        </p:spPr>
        <p:txBody>
          <a:bodyPr wrap="square" lIns="0" tIns="0" rIns="0" bIns="0" rtlCol="0" anchor="t"/>
          <a:lstStyle/>
          <a:p>
            <a:pPr marL="0" indent="0">
              <a:buNone/>
            </a:pPr>
            <a:r>
              <a:rPr lang="en-US" sz="1300" dirty="0">
                <a:solidFill>
                  <a:srgbClr val="4A4380"/>
                </a:solidFill>
                <a:latin typeface="Calibri" pitchFamily="34" charset="0"/>
                <a:ea typeface="Calibri" pitchFamily="34" charset="-122"/>
                <a:cs typeface="Calibri" pitchFamily="34" charset="-120"/>
              </a:rPr>
              <a:t>Hackathon · Team Details</a:t>
            </a:r>
            <a:endParaRPr lang="en-US" sz="1300" dirty="0"/>
          </a:p>
        </p:txBody>
      </p:sp>
      <p:pic>
        <p:nvPicPr>
          <p:cNvPr id="5" name="Bloch sphere ring" descr="sphere.png"/>
          <p:cNvPicPr>
            <a:picLocks noChangeAspect="1"/>
          </p:cNvPicPr>
          <p:nvPr/>
        </p:nvPicPr>
        <p:blipFill>
          <a:blip r:embed="rId3"/>
          <a:stretch>
            <a:fillRect/>
          </a:stretch>
        </p:blipFill>
        <p:spPr>
          <a:xfrm>
            <a:off x="457200" y="3291840"/>
            <a:ext cx="1371600" cy="1371600"/>
          </a:xfrm>
          <a:prstGeom prst="rect">
            <a:avLst/>
          </a:prstGeom>
        </p:spPr>
      </p:pic>
      <p:pic>
        <p:nvPicPr>
          <p:cNvPr id="6" name="Image 1" descr="bird1.png"/>
          <p:cNvPicPr>
            <a:picLocks noChangeAspect="1"/>
          </p:cNvPicPr>
          <p:nvPr/>
        </p:nvPicPr>
        <p:blipFill>
          <a:blip r:embed="rId4"/>
          <a:stretch>
            <a:fillRect/>
          </a:stretch>
        </p:blipFill>
        <p:spPr>
          <a:xfrm>
            <a:off x="2148840" y="3429000"/>
            <a:ext cx="731520" cy="438912"/>
          </a:xfrm>
          <a:prstGeom prst="rect">
            <a:avLst/>
          </a:prstGeom>
        </p:spPr>
      </p:pic>
      <p:pic>
        <p:nvPicPr>
          <p:cNvPr id="7" name="Image 2" descr="bird2.png"/>
          <p:cNvPicPr>
            <a:picLocks noChangeAspect="1"/>
          </p:cNvPicPr>
          <p:nvPr/>
        </p:nvPicPr>
        <p:blipFill>
          <a:blip r:embed="rId5"/>
          <a:stretch>
            <a:fillRect/>
          </a:stretch>
        </p:blipFill>
        <p:spPr>
          <a:xfrm>
            <a:off x="2880360" y="3977640"/>
            <a:ext cx="502920" cy="301752"/>
          </a:xfrm>
          <a:prstGeom prst="rect">
            <a:avLst/>
          </a:prstGeom>
        </p:spPr>
      </p:pic>
      <p:pic>
        <p:nvPicPr>
          <p:cNvPr id="8" name="Image 3" descr="bird3.png"/>
          <p:cNvPicPr>
            <a:picLocks noChangeAspect="1"/>
          </p:cNvPicPr>
          <p:nvPr/>
        </p:nvPicPr>
        <p:blipFill>
          <a:blip r:embed="rId6"/>
          <a:stretch>
            <a:fillRect/>
          </a:stretch>
        </p:blipFill>
        <p:spPr>
          <a:xfrm>
            <a:off x="2331720" y="4297680"/>
            <a:ext cx="384048" cy="228600"/>
          </a:xfrm>
          <a:prstGeom prst="rect">
            <a:avLst/>
          </a:prstGeom>
        </p:spPr>
      </p:pic>
      <p:sp>
        <p:nvSpPr>
          <p:cNvPr id="9" name="Text 3"/>
          <p:cNvSpPr txBox="1"/>
          <p:nvPr/>
        </p:nvSpPr>
        <p:spPr>
          <a:xfrm>
            <a:off x="4023360" y="841248"/>
            <a:ext cx="4663440" cy="320040"/>
          </a:xfrm>
          <a:prstGeom prst="rect">
            <a:avLst/>
          </a:prstGeom>
          <a:noFill/>
          <a:ln/>
        </p:spPr>
        <p:txBody>
          <a:bodyPr wrap="square" lIns="0" tIns="0" rIns="0" bIns="0" rtlCol="0" anchor="t"/>
          <a:lstStyle/>
          <a:p>
            <a:pPr marL="0" indent="0">
              <a:buNone/>
            </a:pPr>
            <a:r>
              <a:rPr lang="en-US" sz="1600" b="1" dirty="0">
                <a:solidFill>
                  <a:srgbClr val="2E1B5B"/>
                </a:solidFill>
                <a:latin typeface="Georgia" pitchFamily="34" charset="0"/>
                <a:ea typeface="Georgia" pitchFamily="34" charset="-122"/>
                <a:cs typeface="Georgia" pitchFamily="34" charset="-120"/>
              </a:rPr>
              <a:t>Participant Details</a:t>
            </a:r>
            <a:endParaRPr lang="en-US" sz="1600" dirty="0"/>
          </a:p>
        </p:txBody>
      </p:sp>
      <p:sp>
        <p:nvSpPr>
          <p:cNvPr id="10" name="Field: PROJECT TITLE"/>
          <p:cNvSpPr/>
          <p:nvPr/>
        </p:nvSpPr>
        <p:spPr>
          <a:xfrm>
            <a:off x="4023360" y="1261872"/>
            <a:ext cx="466344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PROJECT TITLE</a:t>
            </a:r>
            <a:endParaRPr lang="en-US" sz="900" dirty="0"/>
          </a:p>
          <a:p>
            <a:r>
              <a:rPr lang="en-IN" sz="900" dirty="0"/>
              <a:t>Quantum Astra: Interactive Simulation of Grover’s Quantum Search Algorithm</a:t>
            </a:r>
          </a:p>
          <a:p>
            <a:pPr marL="0" indent="0" algn="l">
              <a:buNone/>
            </a:pPr>
            <a:endParaRPr lang="en-US" sz="900" dirty="0"/>
          </a:p>
        </p:txBody>
      </p:sp>
      <p:sp>
        <p:nvSpPr>
          <p:cNvPr id="11" name="Field: TRACK"/>
          <p:cNvSpPr/>
          <p:nvPr/>
        </p:nvSpPr>
        <p:spPr>
          <a:xfrm>
            <a:off x="402336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TRACK</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TRACK A ONLINE</a:t>
            </a:r>
            <a:endParaRPr lang="en-US" sz="900" dirty="0"/>
          </a:p>
        </p:txBody>
      </p:sp>
      <p:sp>
        <p:nvSpPr>
          <p:cNvPr id="12" name="Field: TEAM NAME"/>
          <p:cNvSpPr/>
          <p:nvPr/>
        </p:nvSpPr>
        <p:spPr>
          <a:xfrm>
            <a:off x="6400800" y="18653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NAME</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QUANTUM ASTRA</a:t>
            </a:r>
            <a:endParaRPr lang="en-US" sz="900" dirty="0"/>
          </a:p>
        </p:txBody>
      </p:sp>
      <p:sp>
        <p:nvSpPr>
          <p:cNvPr id="13" name="Field: TEAM LEADER"/>
          <p:cNvSpPr/>
          <p:nvPr/>
        </p:nvSpPr>
        <p:spPr>
          <a:xfrm>
            <a:off x="402336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LEADER</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SAGAR ZINGADE</a:t>
            </a:r>
            <a:endParaRPr lang="en-US" sz="900" dirty="0"/>
          </a:p>
        </p:txBody>
      </p:sp>
      <p:sp>
        <p:nvSpPr>
          <p:cNvPr id="14" name="Field: EMAIL / CONTACT"/>
          <p:cNvSpPr/>
          <p:nvPr/>
        </p:nvSpPr>
        <p:spPr>
          <a:xfrm>
            <a:off x="6400800" y="246888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EMAIL / CONTACT</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zingade583@gmail.com</a:t>
            </a:r>
            <a:endParaRPr lang="en-US" sz="900" dirty="0"/>
          </a:p>
        </p:txBody>
      </p:sp>
      <p:sp>
        <p:nvSpPr>
          <p:cNvPr id="15" name="Field: TEAM MEMBERS"/>
          <p:cNvSpPr/>
          <p:nvPr/>
        </p:nvSpPr>
        <p:spPr>
          <a:xfrm>
            <a:off x="4023360" y="3072384"/>
            <a:ext cx="4663440" cy="777240"/>
          </a:xfrm>
          <a:prstGeom prst="roundRect">
            <a:avLst>
              <a:gd name="adj" fmla="val 7059"/>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TEAM MEMBERS</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SAGAR ZINGADE  ·  ABHILASH</a:t>
            </a:r>
            <a:endParaRPr lang="en-US" sz="900" dirty="0"/>
          </a:p>
        </p:txBody>
      </p:sp>
      <p:sp>
        <p:nvSpPr>
          <p:cNvPr id="16" name="Field: INSTITUTION / ORGANISATION"/>
          <p:cNvSpPr/>
          <p:nvPr/>
        </p:nvSpPr>
        <p:spPr>
          <a:xfrm>
            <a:off x="402336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INSTITUTION / ORGANISATION</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VTU</a:t>
            </a:r>
            <a:endParaRPr lang="en-US" sz="900" dirty="0"/>
          </a:p>
        </p:txBody>
      </p:sp>
      <p:sp>
        <p:nvSpPr>
          <p:cNvPr id="17" name="Field: COUNTRY"/>
          <p:cNvSpPr/>
          <p:nvPr/>
        </p:nvSpPr>
        <p:spPr>
          <a:xfrm>
            <a:off x="6400800" y="3922776"/>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COUNTRY</a:t>
            </a:r>
            <a:endParaRPr lang="en-US" sz="900" dirty="0"/>
          </a:p>
          <a:p>
            <a:pPr marL="0" indent="0" algn="l">
              <a:buNone/>
            </a:pPr>
            <a:r>
              <a:rPr lang="en-US" sz="1200" i="1" dirty="0">
                <a:solidFill>
                  <a:srgbClr val="6F7399"/>
                </a:solidFill>
                <a:latin typeface="Calibri" pitchFamily="34" charset="0"/>
                <a:ea typeface="Calibri" pitchFamily="34" charset="-122"/>
                <a:cs typeface="Calibri" pitchFamily="34" charset="-120"/>
              </a:rPr>
              <a:t>INDIA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Problem Statement</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8" name="Text 6"/>
          <p:cNvSpPr txBox="1"/>
          <p:nvPr/>
        </p:nvSpPr>
        <p:spPr>
          <a:xfrm>
            <a:off x="731520" y="1874520"/>
            <a:ext cx="7706236" cy="2303470"/>
          </a:xfrm>
          <a:prstGeom prst="rect">
            <a:avLst/>
          </a:prstGeom>
          <a:noFill/>
          <a:ln/>
        </p:spPr>
        <p:txBody>
          <a:bodyPr wrap="square" lIns="0" tIns="0" rIns="0" bIns="0" rtlCol="0" anchor="t"/>
          <a:lstStyle/>
          <a:p>
            <a:endParaRPr lang="en-IN" sz="1200" dirty="0"/>
          </a:p>
          <a:p>
            <a:r>
              <a:rPr lang="en-US" sz="1200" b="1" dirty="0">
                <a:solidFill>
                  <a:srgbClr val="2E1B5B"/>
                </a:solidFill>
                <a:latin typeface="Georgia" pitchFamily="34" charset="0"/>
                <a:ea typeface="Georgia" pitchFamily="34" charset="-122"/>
                <a:cs typeface="Georgia" pitchFamily="34" charset="-120"/>
              </a:rPr>
              <a:t>Problem Statement</a:t>
            </a:r>
          </a:p>
          <a:p>
            <a:endParaRPr lang="en-IN" sz="1200" dirty="0"/>
          </a:p>
          <a:p>
            <a:r>
              <a:rPr lang="en-IN" sz="1200" dirty="0"/>
              <a:t>Classical computers generally require searching items one by one when dealing with unstructured search problems. As the search space grows, the number of queries can increase significantly. Meanwhile, students often find quantum computing concepts difficult to understand because quantum states, quantum gates, and probability amplification are abstract mathematical concepts.</a:t>
            </a:r>
          </a:p>
          <a:p>
            <a:endParaRPr lang="en-IN" sz="1200" b="1" dirty="0"/>
          </a:p>
          <a:p>
            <a:endParaRPr lang="en-IN" sz="1200" b="1" dirty="0"/>
          </a:p>
          <a:p>
            <a:r>
              <a:rPr lang="en-IN" sz="1200" b="1" dirty="0"/>
              <a:t>Our goal</a:t>
            </a:r>
            <a:r>
              <a:rPr lang="en-IN" sz="1200" dirty="0"/>
              <a:t> is to develop an interactive </a:t>
            </a:r>
            <a:r>
              <a:rPr lang="en-IN" sz="1200" dirty="0" err="1"/>
              <a:t>Qiskit</a:t>
            </a:r>
            <a:r>
              <a:rPr lang="en-IN" sz="1200" dirty="0"/>
              <a:t>-based simulator that demonstrates Grover’s quantum search algorithm and helps students visualize its operation and compare its theoretical query complexity with classical search.</a:t>
            </a:r>
          </a:p>
          <a:p>
            <a:endParaRPr lang="en-IN"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Objectives &amp; Novelty</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8" name="Text 6"/>
          <p:cNvSpPr txBox="1"/>
          <p:nvPr/>
        </p:nvSpPr>
        <p:spPr>
          <a:xfrm>
            <a:off x="731520" y="1874520"/>
            <a:ext cx="7589520" cy="2516236"/>
          </a:xfrm>
          <a:prstGeom prst="rect">
            <a:avLst/>
          </a:prstGeom>
          <a:noFill/>
          <a:ln/>
        </p:spPr>
        <p:txBody>
          <a:bodyPr wrap="square" lIns="0" tIns="0" rIns="0" bIns="0" rtlCol="0" anchor="t"/>
          <a:lstStyle/>
          <a:p>
            <a:r>
              <a:rPr lang="en-IN" sz="1200" b="1" dirty="0"/>
              <a:t>Objectives</a:t>
            </a:r>
            <a:endParaRPr lang="en-IN" sz="1200" dirty="0"/>
          </a:p>
          <a:p>
            <a:pPr lvl="0"/>
            <a:r>
              <a:rPr lang="en-IN" sz="1200" dirty="0"/>
              <a:t>Implement Grover’s search algorithm using </a:t>
            </a:r>
            <a:r>
              <a:rPr lang="en-IN" sz="1200" dirty="0" err="1"/>
              <a:t>Qiskit</a:t>
            </a:r>
            <a:r>
              <a:rPr lang="en-IN" sz="1200" dirty="0"/>
              <a:t>.</a:t>
            </a:r>
          </a:p>
          <a:p>
            <a:pPr lvl="0"/>
            <a:r>
              <a:rPr lang="en-IN" sz="1200" dirty="0"/>
              <a:t>Demonstrate quantum superposition, phase marking, and amplitude amplification.</a:t>
            </a:r>
          </a:p>
          <a:p>
            <a:pPr lvl="0"/>
            <a:r>
              <a:rPr lang="en-IN" sz="1200" dirty="0"/>
              <a:t>Simulate quantum circuits using </a:t>
            </a:r>
            <a:r>
              <a:rPr lang="en-IN" sz="1200" dirty="0" err="1"/>
              <a:t>Qiskit</a:t>
            </a:r>
            <a:r>
              <a:rPr lang="en-IN" sz="1200" dirty="0"/>
              <a:t> </a:t>
            </a:r>
            <a:r>
              <a:rPr lang="en-IN" sz="1200" dirty="0" err="1"/>
              <a:t>AerSimulator</a:t>
            </a:r>
            <a:r>
              <a:rPr lang="en-IN" sz="1200" dirty="0"/>
              <a:t>.</a:t>
            </a:r>
          </a:p>
          <a:p>
            <a:pPr lvl="0"/>
            <a:r>
              <a:rPr lang="en-IN" sz="1200" dirty="0"/>
              <a:t>Visualize measurement probabilities and search outcomes.</a:t>
            </a:r>
          </a:p>
          <a:p>
            <a:pPr lvl="0"/>
            <a:r>
              <a:rPr lang="en-IN" sz="1200" dirty="0"/>
              <a:t>Compare classical and quantum query complexity.</a:t>
            </a:r>
          </a:p>
          <a:p>
            <a:r>
              <a:rPr lang="en-IN" sz="1200" b="1" dirty="0"/>
              <a:t>Project Novelty</a:t>
            </a:r>
            <a:endParaRPr lang="en-IN" sz="1200" dirty="0"/>
          </a:p>
          <a:p>
            <a:r>
              <a:rPr lang="en-IN" sz="1200" dirty="0"/>
              <a:t>Quantum Astra combines quantum circuit simulation, probability visualization, and classical-versus-quantum comparison in a beginner-friendly learning experience.</a:t>
            </a:r>
          </a:p>
          <a:p>
            <a:r>
              <a:rPr lang="en-IN" sz="1200" b="1" dirty="0"/>
              <a:t>Expected Outcome:</a:t>
            </a:r>
            <a:r>
              <a:rPr lang="en-IN" sz="1200" dirty="0"/>
              <a:t> A practical demonstration of how Grover’s algorithm increases the probability of finding a marked state.</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Solution &amp; Quantum Advantage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5B3BA8"/>
          </a:solidFill>
          <a:ln w="12700">
            <a:solidFill>
              <a:srgbClr val="5B3BA8"/>
            </a:solidFill>
            <a:prstDash val="solid"/>
          </a:ln>
        </p:spPr>
      </p:sp>
      <p:sp>
        <p:nvSpPr>
          <p:cNvPr id="8" name="Text 6"/>
          <p:cNvSpPr txBox="1"/>
          <p:nvPr/>
        </p:nvSpPr>
        <p:spPr>
          <a:xfrm>
            <a:off x="731519" y="1874520"/>
            <a:ext cx="7669065" cy="2608270"/>
          </a:xfrm>
          <a:prstGeom prst="rect">
            <a:avLst/>
          </a:prstGeom>
          <a:noFill/>
          <a:ln/>
        </p:spPr>
        <p:txBody>
          <a:bodyPr wrap="square" lIns="0" tIns="0" rIns="0" bIns="0" rtlCol="0" anchor="t"/>
          <a:lstStyle/>
          <a:p>
            <a:r>
              <a:rPr lang="en-IN" sz="1200" dirty="0"/>
              <a:t>Quantum Astra uses Python and </a:t>
            </a:r>
            <a:r>
              <a:rPr lang="en-IN" sz="1200" dirty="0" err="1"/>
              <a:t>Qiskit</a:t>
            </a:r>
            <a:r>
              <a:rPr lang="en-IN" sz="1200" dirty="0"/>
              <a:t> to construct and simulate Grover’s search circuit. Users select a search-space size and target state, execute the algorithm, and </a:t>
            </a:r>
            <a:r>
              <a:rPr lang="en-IN" sz="1200" dirty="0" err="1"/>
              <a:t>analyze</a:t>
            </a:r>
            <a:r>
              <a:rPr lang="en-IN" sz="1200" dirty="0"/>
              <a:t> measurement probabilities and search outcomes.</a:t>
            </a:r>
          </a:p>
          <a:p>
            <a:endParaRPr lang="en-IN" sz="1200" b="1" dirty="0"/>
          </a:p>
          <a:p>
            <a:endParaRPr lang="en-IN" sz="1200" b="1" dirty="0"/>
          </a:p>
          <a:p>
            <a:r>
              <a:rPr lang="en-IN" sz="1200" b="1" dirty="0"/>
              <a:t>Quantum Advantage</a:t>
            </a:r>
            <a:endParaRPr lang="en-IN" sz="1200" dirty="0"/>
          </a:p>
          <a:p>
            <a:pPr lvl="0"/>
            <a:r>
              <a:rPr lang="en-IN" sz="1200" dirty="0"/>
              <a:t>Classical unstructured search: O(N) query complexity in the worst case.</a:t>
            </a:r>
          </a:p>
          <a:p>
            <a:pPr lvl="0"/>
            <a:r>
              <a:rPr lang="en-IN" sz="1200" dirty="0"/>
              <a:t>Grover’s algorithm: O(√N) oracle-query complexity.</a:t>
            </a:r>
          </a:p>
          <a:p>
            <a:pPr lvl="0"/>
            <a:r>
              <a:rPr lang="en-IN" sz="1200" dirty="0"/>
              <a:t>Repeated oracle and diffusion operations amplify the probability of the target state.</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Algorithm &amp; Circuit Design</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circuit diagram</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e.g. qc.draw("mpl")</a:t>
            </a:r>
            <a:endParaRPr lang="en-US" sz="1400" dirty="0"/>
          </a:p>
        </p:txBody>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txBody>
          <a:bodyPr/>
          <a:lstStyle/>
          <a:p>
            <a:endParaRPr lang="en-IN" dirty="0"/>
          </a:p>
        </p:txBody>
      </p:sp>
      <p:sp>
        <p:nvSpPr>
          <p:cNvPr id="9" name="Card accent"/>
          <p:cNvSpPr/>
          <p:nvPr/>
        </p:nvSpPr>
        <p:spPr>
          <a:xfrm>
            <a:off x="5806440" y="1691640"/>
            <a:ext cx="822960" cy="54864"/>
          </a:xfrm>
          <a:prstGeom prst="rect">
            <a:avLst/>
          </a:prstGeom>
          <a:solidFill>
            <a:srgbClr val="7C93F0"/>
          </a:solidFill>
          <a:ln w="12700">
            <a:solidFill>
              <a:srgbClr val="7C93F0"/>
            </a:solidFill>
            <a:prstDash val="solid"/>
          </a:ln>
        </p:spPr>
      </p:sp>
      <p:sp>
        <p:nvSpPr>
          <p:cNvPr id="10" name="Text 8"/>
          <p:cNvSpPr txBox="1"/>
          <p:nvPr/>
        </p:nvSpPr>
        <p:spPr>
          <a:xfrm>
            <a:off x="5806440" y="1874519"/>
            <a:ext cx="2697480" cy="2638007"/>
          </a:xfrm>
          <a:prstGeom prst="rect">
            <a:avLst/>
          </a:prstGeom>
          <a:noFill/>
          <a:ln/>
        </p:spPr>
        <p:txBody>
          <a:bodyPr wrap="square" lIns="0" tIns="0" rIns="0" bIns="0" rtlCol="0" anchor="t"/>
          <a:lstStyle/>
          <a:p>
            <a:pPr lvl="0"/>
            <a:r>
              <a:rPr lang="en-IN" sz="1200" b="1" dirty="0"/>
              <a:t>Initialization:</a:t>
            </a:r>
            <a:r>
              <a:rPr lang="en-IN" sz="1200" dirty="0"/>
              <a:t> Prepare the qubits in the |0⟩ state.</a:t>
            </a:r>
          </a:p>
          <a:p>
            <a:pPr lvl="0"/>
            <a:r>
              <a:rPr lang="en-IN" sz="1200" b="1" dirty="0"/>
              <a:t>Superposition:</a:t>
            </a:r>
            <a:r>
              <a:rPr lang="en-IN" sz="1200" dirty="0"/>
              <a:t> Apply Hadamard gates to create an equal superposition of possible search states.</a:t>
            </a:r>
          </a:p>
          <a:p>
            <a:pPr lvl="0"/>
            <a:r>
              <a:rPr lang="en-IN" sz="1200" b="1" dirty="0"/>
              <a:t>Oracle:</a:t>
            </a:r>
            <a:r>
              <a:rPr lang="en-IN" sz="1200" dirty="0"/>
              <a:t> Flip the phase of the selected target state.</a:t>
            </a:r>
          </a:p>
          <a:p>
            <a:pPr lvl="0"/>
            <a:r>
              <a:rPr lang="en-IN" sz="1200" b="1" dirty="0"/>
              <a:t>Diffusion:</a:t>
            </a:r>
            <a:r>
              <a:rPr lang="en-IN" sz="1200" dirty="0"/>
              <a:t> Amplify the target state's probability amplitude.</a:t>
            </a:r>
          </a:p>
          <a:p>
            <a:pPr lvl="0"/>
            <a:r>
              <a:rPr lang="en-IN" sz="1200" b="1" dirty="0"/>
              <a:t>Iteration:</a:t>
            </a:r>
            <a:r>
              <a:rPr lang="en-IN" sz="1200" dirty="0"/>
              <a:t> Repeat the Grover operator approximately the optimal number of times.</a:t>
            </a:r>
          </a:p>
          <a:p>
            <a:pPr lvl="0"/>
            <a:r>
              <a:rPr lang="en-IN" sz="1200" b="1" dirty="0"/>
              <a:t>Measurement:</a:t>
            </a:r>
            <a:r>
              <a:rPr lang="en-IN" sz="1200" dirty="0"/>
              <a:t> Measure the qubits and </a:t>
            </a:r>
            <a:r>
              <a:rPr lang="en-IN" sz="1200" dirty="0" err="1"/>
              <a:t>analyze</a:t>
            </a:r>
            <a:r>
              <a:rPr lang="en-IN" sz="1200" dirty="0"/>
              <a:t> the output distribution.</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5</a:t>
            </a:fld>
            <a:endParaRPr lang="en-US"/>
          </a:p>
        </p:txBody>
      </p:sp>
      <p:pic>
        <p:nvPicPr>
          <p:cNvPr id="14" name="Picture 13">
            <a:extLst>
              <a:ext uri="{FF2B5EF4-FFF2-40B4-BE49-F238E27FC236}">
                <a16:creationId xmlns:a16="http://schemas.microsoft.com/office/drawing/2014/main" id="{408DFA52-16E5-7E47-D2CD-3E970E9BA231}"/>
              </a:ext>
            </a:extLst>
          </p:cNvPr>
          <p:cNvPicPr>
            <a:picLocks noChangeAspect="1"/>
          </p:cNvPicPr>
          <p:nvPr/>
        </p:nvPicPr>
        <p:blipFill>
          <a:blip r:embed="rId3"/>
          <a:stretch>
            <a:fillRect/>
          </a:stretch>
        </p:blipFill>
        <p:spPr>
          <a:xfrm>
            <a:off x="457199" y="1737360"/>
            <a:ext cx="4873083" cy="28529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Implementation &amp; Tech Stack</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8" name="Text 6"/>
          <p:cNvSpPr txBox="1"/>
          <p:nvPr/>
        </p:nvSpPr>
        <p:spPr>
          <a:xfrm>
            <a:off x="731520" y="1874520"/>
            <a:ext cx="6762100" cy="2553406"/>
          </a:xfrm>
          <a:prstGeom prst="rect">
            <a:avLst/>
          </a:prstGeom>
          <a:noFill/>
          <a:ln/>
        </p:spPr>
        <p:txBody>
          <a:bodyPr wrap="square" lIns="0" tIns="0" rIns="0" bIns="0" rtlCol="0" anchor="t"/>
          <a:lstStyle/>
          <a:p>
            <a:r>
              <a:rPr lang="en-IN" sz="1200" b="1" dirty="0"/>
              <a:t>Programming Language:</a:t>
            </a:r>
            <a:r>
              <a:rPr lang="en-IN" sz="1200" dirty="0"/>
              <a:t> Python 3.11+</a:t>
            </a:r>
          </a:p>
          <a:p>
            <a:r>
              <a:rPr lang="en-IN" sz="1200" b="1" dirty="0"/>
              <a:t>Core Technologies</a:t>
            </a:r>
            <a:endParaRPr lang="en-IN" sz="1200" dirty="0"/>
          </a:p>
          <a:p>
            <a:pPr lvl="0"/>
            <a:r>
              <a:rPr lang="en-IN" sz="1200" b="1" dirty="0" err="1"/>
              <a:t>Qiskit</a:t>
            </a:r>
            <a:r>
              <a:rPr lang="en-IN" sz="1200" b="1" dirty="0"/>
              <a:t> SDK:</a:t>
            </a:r>
            <a:r>
              <a:rPr lang="en-IN" sz="1200" dirty="0"/>
              <a:t> Quantum circuit construction and algorithm implementation.</a:t>
            </a:r>
          </a:p>
          <a:p>
            <a:pPr lvl="0"/>
            <a:r>
              <a:rPr lang="en-IN" sz="1200" b="1" dirty="0" err="1"/>
              <a:t>Qiskit</a:t>
            </a:r>
            <a:r>
              <a:rPr lang="en-IN" sz="1200" b="1" dirty="0"/>
              <a:t> </a:t>
            </a:r>
            <a:r>
              <a:rPr lang="en-IN" sz="1200" b="1" dirty="0" err="1"/>
              <a:t>AerSimulator</a:t>
            </a:r>
            <a:r>
              <a:rPr lang="en-IN" sz="1200" b="1" dirty="0"/>
              <a:t>:</a:t>
            </a:r>
            <a:r>
              <a:rPr lang="en-IN" sz="1200" dirty="0"/>
              <a:t> Local quantum circuit simulation.</a:t>
            </a:r>
          </a:p>
          <a:p>
            <a:pPr lvl="0"/>
            <a:r>
              <a:rPr lang="en-IN" sz="1200" b="1" dirty="0"/>
              <a:t>NumPy:</a:t>
            </a:r>
            <a:r>
              <a:rPr lang="en-IN" sz="1200" dirty="0"/>
              <a:t> Numerical calculations and probability analysis.</a:t>
            </a:r>
          </a:p>
          <a:p>
            <a:pPr lvl="0"/>
            <a:r>
              <a:rPr lang="en-IN" sz="1200" b="1" dirty="0" err="1"/>
              <a:t>Qiskit</a:t>
            </a:r>
            <a:r>
              <a:rPr lang="en-IN" sz="1200" b="1" dirty="0"/>
              <a:t> Visualization / Matplotlib:</a:t>
            </a:r>
            <a:r>
              <a:rPr lang="en-IN" sz="1200" dirty="0"/>
              <a:t> Circuit diagrams and measurement histograms.</a:t>
            </a:r>
          </a:p>
          <a:p>
            <a:pPr lvl="0"/>
            <a:r>
              <a:rPr lang="en-IN" sz="1200" b="1" dirty="0" err="1"/>
              <a:t>JupyterLab</a:t>
            </a:r>
            <a:r>
              <a:rPr lang="en-IN" sz="1200" b="1" dirty="0"/>
              <a:t> / VS Code:</a:t>
            </a:r>
            <a:r>
              <a:rPr lang="en-IN" sz="1200" dirty="0"/>
              <a:t> Development and experimentation.</a:t>
            </a:r>
          </a:p>
          <a:p>
            <a:pPr lvl="0"/>
            <a:r>
              <a:rPr lang="en-IN" sz="1200" b="1" dirty="0"/>
              <a:t>Git &amp; GitHub:</a:t>
            </a:r>
            <a:r>
              <a:rPr lang="en-IN" sz="1200" dirty="0"/>
              <a:t> Version control and team collaboration.</a:t>
            </a:r>
          </a:p>
          <a:p>
            <a:r>
              <a:rPr lang="en-IN" sz="1200" b="1" dirty="0"/>
              <a:t>Implementation Pipeline</a:t>
            </a:r>
            <a:endParaRPr lang="en-IN" sz="1200" dirty="0"/>
          </a:p>
          <a:p>
            <a:r>
              <a:rPr lang="en-IN" sz="1200" dirty="0"/>
              <a:t>User Input → Circuit Construction → Grover Algorithm → Local Simulation → Measurement Analysis → Visualization</a:t>
            </a:r>
          </a:p>
          <a:p>
            <a:r>
              <a:rPr lang="en-IN" sz="1200" b="1" dirty="0"/>
              <a:t>Execution:</a:t>
            </a:r>
            <a:r>
              <a:rPr lang="en-IN" sz="1200" dirty="0"/>
              <a:t> The core simulation runs locally and does not require paid APIs. Actual quantum-hardware execution is an optional extension requiring suitable access and configuration.</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Results &amp; Analysis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Insert area"/>
          <p:cNvSpPr/>
          <p:nvPr/>
        </p:nvSpPr>
        <p:spPr>
          <a:xfrm>
            <a:off x="457200" y="1691640"/>
            <a:ext cx="4937760" cy="2926080"/>
          </a:xfrm>
          <a:prstGeom prst="roundRect">
            <a:avLst>
              <a:gd name="adj" fmla="val 2500"/>
            </a:avLst>
          </a:prstGeom>
          <a:solidFill>
            <a:srgbClr val="EEF0FE"/>
          </a:solidFill>
          <a:ln w="15875">
            <a:solidFill>
              <a:srgbClr val="7C93F0"/>
            </a:solidFill>
            <a:prstDash val="dash"/>
          </a:ln>
        </p:spPr>
      </p:sp>
      <p:sp>
        <p:nvSpPr>
          <p:cNvPr id="7" name="Text 5"/>
          <p:cNvSpPr txBox="1"/>
          <p:nvPr/>
        </p:nvSpPr>
        <p:spPr>
          <a:xfrm>
            <a:off x="640080" y="1874520"/>
            <a:ext cx="4572000" cy="2560320"/>
          </a:xfrm>
          <a:prstGeom prst="rect">
            <a:avLst/>
          </a:prstGeom>
          <a:noFill/>
          <a:ln/>
        </p:spPr>
        <p:txBody>
          <a:bodyPr wrap="square" lIns="0" tIns="0" rIns="0" bIns="0" rtlCol="0" anchor="ctr"/>
          <a:lstStyle/>
          <a:p>
            <a:pPr marL="0" indent="0" algn="ctr">
              <a:buNone/>
            </a:pPr>
            <a:r>
              <a:rPr lang="en-US" sz="1400" b="1" dirty="0">
                <a:solidFill>
                  <a:srgbClr val="5B3BA8"/>
                </a:solidFill>
                <a:latin typeface="Calibri" pitchFamily="34" charset="0"/>
                <a:ea typeface="Calibri" pitchFamily="34" charset="-122"/>
                <a:cs typeface="Calibri" pitchFamily="34" charset="-120"/>
              </a:rPr>
              <a:t>Insert results</a:t>
            </a:r>
            <a:endParaRPr lang="en-US" sz="1400" dirty="0"/>
          </a:p>
          <a:p>
            <a:pPr marL="0" indent="0" algn="ctr">
              <a:buNone/>
            </a:pPr>
            <a:r>
              <a:rPr lang="en-US" sz="1100" i="1" dirty="0">
                <a:solidFill>
                  <a:srgbClr val="6F7399"/>
                </a:solidFill>
                <a:latin typeface="Calibri" pitchFamily="34" charset="0"/>
                <a:ea typeface="Calibri" pitchFamily="34" charset="-122"/>
                <a:cs typeface="Calibri" pitchFamily="34" charset="-120"/>
              </a:rPr>
              <a:t>Histogram, plot or table</a:t>
            </a:r>
            <a:endParaRPr lang="en-US" sz="1400" dirty="0"/>
          </a:p>
        </p:txBody>
      </p:sp>
      <p:sp>
        <p:nvSpPr>
          <p:cNvPr id="8" name="Content card"/>
          <p:cNvSpPr/>
          <p:nvPr/>
        </p:nvSpPr>
        <p:spPr>
          <a:xfrm>
            <a:off x="5577840" y="1691640"/>
            <a:ext cx="3108960" cy="2926080"/>
          </a:xfrm>
          <a:prstGeom prst="roundRect">
            <a:avLst>
              <a:gd name="adj" fmla="val 2500"/>
            </a:avLst>
          </a:prstGeom>
          <a:solidFill>
            <a:srgbClr val="FFFFFF"/>
          </a:solidFill>
          <a:ln w="9525">
            <a:solidFill>
              <a:srgbClr val="B8BDEB"/>
            </a:solidFill>
            <a:prstDash val="solid"/>
          </a:ln>
        </p:spPr>
      </p:sp>
      <p:sp>
        <p:nvSpPr>
          <p:cNvPr id="9" name="Card accent"/>
          <p:cNvSpPr/>
          <p:nvPr/>
        </p:nvSpPr>
        <p:spPr>
          <a:xfrm>
            <a:off x="5806440" y="1691640"/>
            <a:ext cx="822960" cy="54864"/>
          </a:xfrm>
          <a:prstGeom prst="rect">
            <a:avLst/>
          </a:prstGeom>
          <a:solidFill>
            <a:srgbClr val="5B3BA8"/>
          </a:solidFill>
          <a:ln w="12700">
            <a:solidFill>
              <a:srgbClr val="5B3BA8"/>
            </a:solidFill>
            <a:prstDash val="solid"/>
          </a:ln>
        </p:spPr>
      </p:sp>
      <p:sp>
        <p:nvSpPr>
          <p:cNvPr id="10" name="Text 8"/>
          <p:cNvSpPr txBox="1"/>
          <p:nvPr/>
        </p:nvSpPr>
        <p:spPr>
          <a:xfrm>
            <a:off x="5806440" y="1874520"/>
            <a:ext cx="2765131" cy="2560320"/>
          </a:xfrm>
          <a:prstGeom prst="rect">
            <a:avLst/>
          </a:prstGeom>
          <a:noFill/>
          <a:ln/>
        </p:spPr>
        <p:txBody>
          <a:bodyPr wrap="square" lIns="0" tIns="0" rIns="0" bIns="0" rtlCol="0" anchor="t"/>
          <a:lstStyle/>
          <a:p>
            <a:r>
              <a:rPr lang="en-IN" sz="1200" b="1" dirty="0"/>
              <a:t>Simulation Setup</a:t>
            </a:r>
            <a:endParaRPr lang="en-IN" sz="1200" dirty="0"/>
          </a:p>
          <a:p>
            <a:pPr lvl="0"/>
            <a:r>
              <a:rPr lang="en-IN" sz="1200" dirty="0"/>
              <a:t>Qubits: 4</a:t>
            </a:r>
          </a:p>
          <a:p>
            <a:pPr lvl="0"/>
            <a:r>
              <a:rPr lang="en-IN" sz="1200" dirty="0"/>
              <a:t>Search space: 16 states</a:t>
            </a:r>
          </a:p>
          <a:p>
            <a:pPr lvl="0"/>
            <a:r>
              <a:rPr lang="en-IN" sz="1200" dirty="0"/>
              <a:t>Target state: |1010⟩</a:t>
            </a:r>
          </a:p>
          <a:p>
            <a:pPr lvl="0"/>
            <a:r>
              <a:rPr lang="en-IN" sz="1200" dirty="0"/>
              <a:t>Grover iterations: 3</a:t>
            </a:r>
          </a:p>
          <a:p>
            <a:pPr lvl="0"/>
            <a:r>
              <a:rPr lang="en-IN" sz="1200" dirty="0"/>
              <a:t>Model: Ideal, noiseless simulation</a:t>
            </a:r>
          </a:p>
          <a:p>
            <a:r>
              <a:rPr lang="en-IN" sz="1200" b="1" dirty="0"/>
              <a:t>Key Results</a:t>
            </a:r>
            <a:endParaRPr lang="en-IN" sz="1200" dirty="0"/>
          </a:p>
          <a:p>
            <a:pPr lvl="0"/>
            <a:r>
              <a:rPr lang="en-IN" sz="1200" dirty="0"/>
              <a:t>Target-state probability: 96.13%</a:t>
            </a:r>
          </a:p>
          <a:p>
            <a:pPr lvl="0"/>
            <a:r>
              <a:rPr lang="en-IN" sz="1200" dirty="0"/>
              <a:t>Each non-target state's probability: approximately 0.258%</a:t>
            </a:r>
          </a:p>
          <a:p>
            <a:pPr lvl="0"/>
            <a:r>
              <a:rPr lang="en-IN" sz="1200" dirty="0"/>
              <a:t>Classical linear search: 8.5 queries on average and up to 16 in the worst case.</a:t>
            </a:r>
          </a:p>
          <a:p>
            <a:pPr lvl="0"/>
            <a:r>
              <a:rPr lang="en-IN" sz="1200" dirty="0"/>
              <a:t>Grover search: 3 oracle queries in this example.</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7</a:t>
            </a:fld>
            <a:endParaRPr lang="en-US"/>
          </a:p>
        </p:txBody>
      </p:sp>
      <p:pic>
        <p:nvPicPr>
          <p:cNvPr id="12" name="Picture 11">
            <a:extLst>
              <a:ext uri="{FF2B5EF4-FFF2-40B4-BE49-F238E27FC236}">
                <a16:creationId xmlns:a16="http://schemas.microsoft.com/office/drawing/2014/main" id="{BE085956-A0C6-F909-BC0F-D01DA04F7ECF}"/>
              </a:ext>
            </a:extLst>
          </p:cNvPr>
          <p:cNvPicPr>
            <a:picLocks noChangeAspect="1"/>
          </p:cNvPicPr>
          <p:nvPr/>
        </p:nvPicPr>
        <p:blipFill>
          <a:blip r:embed="rId3"/>
          <a:stretch>
            <a:fillRect/>
          </a:stretch>
        </p:blipFill>
        <p:spPr>
          <a:xfrm>
            <a:off x="457200" y="1691640"/>
            <a:ext cx="4937760" cy="2926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Impact &amp; Real-World Applications</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7C93F0"/>
          </a:solidFill>
          <a:ln w="12700">
            <a:solidFill>
              <a:srgbClr val="7C93F0"/>
            </a:solidFill>
            <a:prstDash val="solid"/>
          </a:ln>
        </p:spPr>
      </p:sp>
      <p:sp>
        <p:nvSpPr>
          <p:cNvPr id="8" name="Text 6"/>
          <p:cNvSpPr txBox="1"/>
          <p:nvPr/>
        </p:nvSpPr>
        <p:spPr>
          <a:xfrm>
            <a:off x="731519" y="1874519"/>
            <a:ext cx="6955387" cy="2667743"/>
          </a:xfrm>
          <a:prstGeom prst="rect">
            <a:avLst/>
          </a:prstGeom>
          <a:noFill/>
          <a:ln/>
        </p:spPr>
        <p:txBody>
          <a:bodyPr wrap="square" lIns="0" tIns="0" rIns="0" bIns="0" rtlCol="0" anchor="t"/>
          <a:lstStyle/>
          <a:p>
            <a:r>
              <a:rPr lang="en-IN" sz="1200" b="1" dirty="0"/>
              <a:t>Educational Impact</a:t>
            </a:r>
            <a:endParaRPr lang="en-IN" sz="1200" dirty="0"/>
          </a:p>
          <a:p>
            <a:pPr lvl="0"/>
            <a:r>
              <a:rPr lang="en-IN" sz="1200" dirty="0"/>
              <a:t>Makes quantum computing concepts easier to understand.</a:t>
            </a:r>
          </a:p>
          <a:p>
            <a:pPr lvl="0"/>
            <a:r>
              <a:rPr lang="en-IN" sz="1200" dirty="0"/>
              <a:t>Provides hands-on exposure to quantum circuits and gates.</a:t>
            </a:r>
          </a:p>
          <a:p>
            <a:pPr lvl="0"/>
            <a:r>
              <a:rPr lang="en-IN" sz="1200" dirty="0"/>
              <a:t>Helps students explore quantum measurement and probability distributions.</a:t>
            </a:r>
          </a:p>
          <a:p>
            <a:pPr lvl="0"/>
            <a:r>
              <a:rPr lang="en-IN" sz="1200" dirty="0"/>
              <a:t>Supports practical learning through visual demonstrations.</a:t>
            </a:r>
          </a:p>
          <a:p>
            <a:r>
              <a:rPr lang="en-IN" sz="1200" b="1" dirty="0"/>
              <a:t>Potential Applications of Grover’s Algorithm</a:t>
            </a:r>
            <a:endParaRPr lang="en-IN" sz="1200" dirty="0"/>
          </a:p>
          <a:p>
            <a:pPr lvl="0"/>
            <a:r>
              <a:rPr lang="en-IN" sz="1200" dirty="0"/>
              <a:t>Unstructured search problems.</a:t>
            </a:r>
          </a:p>
          <a:p>
            <a:pPr lvl="0"/>
            <a:r>
              <a:rPr lang="en-IN" sz="1200" dirty="0"/>
              <a:t>Search-related algorithmic research.</a:t>
            </a:r>
          </a:p>
          <a:p>
            <a:pPr lvl="0"/>
            <a:r>
              <a:rPr lang="en-IN" sz="1200" dirty="0"/>
              <a:t>Selected optimization and information-retrieval problems that can be formulated using suitable quantum oracles.</a:t>
            </a:r>
          </a:p>
          <a:p>
            <a:r>
              <a:rPr lang="en-IN" sz="1200" b="1" dirty="0"/>
              <a:t>Broader Impact</a:t>
            </a:r>
            <a:endParaRPr lang="en-IN" sz="1200" dirty="0"/>
          </a:p>
          <a:p>
            <a:r>
              <a:rPr lang="en-IN" sz="1200" dirty="0"/>
              <a:t>Quantum Astra helps bridge the gap between theoretical quantum computing concepts and practical algorithm demonstrations while communicating both potential benefits and current limitations.</a:t>
            </a:r>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4"/>
          <p:cNvSpPr>
            <a:spLocks noGrp="1"/>
          </p:cNvSpPr>
          <p:nvPr>
            <p:ph type="title" idx="120" hasCustomPrompt="1"/>
          </p:nvPr>
        </p:nvSpPr>
        <p:spPr>
          <a:xfrm>
            <a:off x="457200" y="841248"/>
            <a:ext cx="6309360" cy="594360"/>
          </a:xfrm>
          <a:prstGeom prst="rect">
            <a:avLst/>
          </a:prstGeom>
          <a:noFill/>
          <a:ln/>
        </p:spPr>
        <p:txBody>
          <a:bodyPr wrap="square" lIns="0" tIns="0" rIns="0" bIns="0" rtlCol="0" anchor="ctr"/>
          <a:lstStyle/>
          <a:p>
            <a:pPr marL="0" indent="0" algn="l">
              <a:buNone/>
            </a:pPr>
            <a:r>
              <a:rPr lang="en-US" sz="2600" b="1" dirty="0">
                <a:solidFill>
                  <a:srgbClr val="2E1B5B"/>
                </a:solidFill>
                <a:latin typeface="Georgia" pitchFamily="34" charset="0"/>
                <a:ea typeface="Georgia" pitchFamily="34" charset="-122"/>
                <a:cs typeface="Georgia" pitchFamily="34" charset="-120"/>
              </a:rPr>
              <a:t>Challenges &amp; Future Scope</a:t>
            </a:r>
            <a:endParaRPr lang="en-US" sz="2600" dirty="0"/>
          </a:p>
        </p:txBody>
      </p:sp>
      <p:sp>
        <p:nvSpPr>
          <p:cNvPr id="3" name="Title accent"/>
          <p:cNvSpPr/>
          <p:nvPr/>
        </p:nvSpPr>
        <p:spPr>
          <a:xfrm>
            <a:off x="457200" y="1463040"/>
            <a:ext cx="256032" cy="45720"/>
          </a:xfrm>
          <a:prstGeom prst="rect">
            <a:avLst/>
          </a:prstGeom>
          <a:solidFill>
            <a:srgbClr val="7C93F0"/>
          </a:solidFill>
          <a:ln w="12700">
            <a:solidFill>
              <a:srgbClr val="7C93F0"/>
            </a:solidFill>
            <a:prstDash val="solid"/>
          </a:ln>
        </p:spPr>
      </p:sp>
      <p:sp>
        <p:nvSpPr>
          <p:cNvPr id="4" name="Title accent"/>
          <p:cNvSpPr/>
          <p:nvPr/>
        </p:nvSpPr>
        <p:spPr>
          <a:xfrm>
            <a:off x="731520" y="1463040"/>
            <a:ext cx="256032" cy="45720"/>
          </a:xfrm>
          <a:prstGeom prst="rect">
            <a:avLst/>
          </a:prstGeom>
          <a:solidFill>
            <a:srgbClr val="E8639F"/>
          </a:solidFill>
          <a:ln w="12700">
            <a:solidFill>
              <a:srgbClr val="E8639F"/>
            </a:solidFill>
            <a:prstDash val="solid"/>
          </a:ln>
        </p:spPr>
      </p:sp>
      <p:sp>
        <p:nvSpPr>
          <p:cNvPr id="5" name="Title accent"/>
          <p:cNvSpPr/>
          <p:nvPr/>
        </p:nvSpPr>
        <p:spPr>
          <a:xfrm>
            <a:off x="1005840" y="1463040"/>
            <a:ext cx="256032" cy="45720"/>
          </a:xfrm>
          <a:prstGeom prst="rect">
            <a:avLst/>
          </a:prstGeom>
          <a:solidFill>
            <a:srgbClr val="5B3BA8"/>
          </a:solidFill>
          <a:ln w="12700">
            <a:solidFill>
              <a:srgbClr val="5B3BA8"/>
            </a:solidFill>
            <a:prstDash val="solid"/>
          </a:ln>
        </p:spPr>
      </p:sp>
      <p:sp>
        <p:nvSpPr>
          <p:cNvPr id="6" name="Content card"/>
          <p:cNvSpPr/>
          <p:nvPr/>
        </p:nvSpPr>
        <p:spPr>
          <a:xfrm>
            <a:off x="457200" y="1691640"/>
            <a:ext cx="8229600" cy="2926080"/>
          </a:xfrm>
          <a:prstGeom prst="roundRect">
            <a:avLst>
              <a:gd name="adj" fmla="val 2500"/>
            </a:avLst>
          </a:prstGeom>
          <a:solidFill>
            <a:srgbClr val="FFFFFF"/>
          </a:solidFill>
          <a:ln w="9525">
            <a:solidFill>
              <a:srgbClr val="B8BDEB"/>
            </a:solidFill>
            <a:prstDash val="solid"/>
          </a:ln>
        </p:spPr>
      </p:sp>
      <p:sp>
        <p:nvSpPr>
          <p:cNvPr id="7" name="Card accent"/>
          <p:cNvSpPr/>
          <p:nvPr/>
        </p:nvSpPr>
        <p:spPr>
          <a:xfrm>
            <a:off x="685800" y="1691640"/>
            <a:ext cx="822960" cy="54864"/>
          </a:xfrm>
          <a:prstGeom prst="rect">
            <a:avLst/>
          </a:prstGeom>
          <a:solidFill>
            <a:srgbClr val="E8639F"/>
          </a:solidFill>
          <a:ln w="12700">
            <a:solidFill>
              <a:srgbClr val="E8639F"/>
            </a:solidFill>
            <a:prstDash val="solid"/>
          </a:ln>
        </p:spPr>
      </p:sp>
      <p:sp>
        <p:nvSpPr>
          <p:cNvPr id="8" name="Text 6"/>
          <p:cNvSpPr txBox="1"/>
          <p:nvPr/>
        </p:nvSpPr>
        <p:spPr>
          <a:xfrm>
            <a:off x="731519" y="1874520"/>
            <a:ext cx="6717495" cy="2427732"/>
          </a:xfrm>
          <a:prstGeom prst="rect">
            <a:avLst/>
          </a:prstGeom>
          <a:noFill/>
          <a:ln/>
        </p:spPr>
        <p:txBody>
          <a:bodyPr wrap="square" lIns="0" tIns="0" rIns="0" bIns="0" rtlCol="0" anchor="t"/>
          <a:lstStyle/>
          <a:p>
            <a:r>
              <a:rPr lang="en-IN" sz="1200" b="1" dirty="0"/>
              <a:t>Challenges</a:t>
            </a:r>
            <a:endParaRPr lang="en-IN" sz="1200" dirty="0"/>
          </a:p>
          <a:p>
            <a:pPr lvl="0"/>
            <a:r>
              <a:rPr lang="en-IN" sz="1200" dirty="0"/>
              <a:t>Constructing a correct oracle for the chosen target state.</a:t>
            </a:r>
          </a:p>
          <a:p>
            <a:pPr lvl="0"/>
            <a:r>
              <a:rPr lang="en-IN" sz="1200" dirty="0"/>
              <a:t>Understanding phase inversion and amplitude amplification.</a:t>
            </a:r>
          </a:p>
          <a:p>
            <a:pPr lvl="0"/>
            <a:r>
              <a:rPr lang="en-IN" sz="1200" dirty="0"/>
              <a:t>Choosing a suitable number of Grover iterations.</a:t>
            </a:r>
          </a:p>
          <a:p>
            <a:pPr lvl="0"/>
            <a:r>
              <a:rPr lang="en-IN" sz="1200" dirty="0"/>
              <a:t>Managing simulation costs as qubit count increases.</a:t>
            </a:r>
          </a:p>
          <a:p>
            <a:pPr lvl="0"/>
            <a:r>
              <a:rPr lang="en-IN" sz="1200" dirty="0"/>
              <a:t>Accounting for finite measurement shots and hardware noise.</a:t>
            </a:r>
          </a:p>
          <a:p>
            <a:r>
              <a:rPr lang="en-IN" sz="1200" b="1" dirty="0"/>
              <a:t>Future Scope</a:t>
            </a:r>
            <a:endParaRPr lang="en-IN" sz="1200" dirty="0"/>
          </a:p>
          <a:p>
            <a:pPr lvl="0"/>
            <a:r>
              <a:rPr lang="en-IN" sz="1200" dirty="0"/>
              <a:t>Add noise-model simulations using </a:t>
            </a:r>
            <a:r>
              <a:rPr lang="en-IN" sz="1200" dirty="0" err="1"/>
              <a:t>Qiskit</a:t>
            </a:r>
            <a:r>
              <a:rPr lang="en-IN" sz="1200" dirty="0"/>
              <a:t> Aer.</a:t>
            </a:r>
          </a:p>
          <a:p>
            <a:pPr lvl="0"/>
            <a:r>
              <a:rPr lang="en-IN" sz="1200" dirty="0"/>
              <a:t>Support multiple marked states.</a:t>
            </a:r>
          </a:p>
          <a:p>
            <a:pPr lvl="0"/>
            <a:r>
              <a:rPr lang="en-IN" sz="1200" dirty="0"/>
              <a:t>Improve circuit and probability visualizations.</a:t>
            </a:r>
          </a:p>
          <a:p>
            <a:pPr lvl="0"/>
            <a:r>
              <a:rPr lang="en-IN" sz="1200" dirty="0"/>
              <a:t>Compare ideal simulations with real quantum-hardware results, where access is available.</a:t>
            </a:r>
          </a:p>
          <a:p>
            <a:pPr lvl="0"/>
            <a:r>
              <a:rPr lang="en-IN" sz="1200" dirty="0"/>
              <a:t>Expand the learning modules and interactive experiments.</a:t>
            </a:r>
          </a:p>
          <a:p>
            <a:pPr marL="0" indent="0">
              <a:buNone/>
            </a:pPr>
            <a:endParaRPr lang="en-US" sz="1200" dirty="0"/>
          </a:p>
        </p:txBody>
      </p:sp>
      <p:sp>
        <p:nvSpPr>
          <p:cNvPr id="25" name="Slide Number Placeholder 0"/>
          <p:cNvSpPr>
            <a:spLocks noGrp="1"/>
          </p:cNvSpPr>
          <p:nvPr>
            <p:ph type="sldNum" sz="quarter" idx="4294967295"/>
          </p:nvPr>
        </p:nvSpPr>
        <p:spPr>
          <a:xfrm>
            <a:off x="8321040" y="4864608"/>
            <a:ext cx="365760" cy="274320"/>
          </a:xfrm>
          <a:prstGeom prst="rect">
            <a:avLst/>
          </a:prstGeom>
          <a:extLst>
            <a:ext uri="{C572A759-6A51-4108-AA02-DFA0A04FC94B}">
              <ma14:wrappingTextBoxFlag xmlns="" xmlns:ma14="http://schemas.microsoft.com/office/mac/drawingml/2011/main" val="0"/>
            </a:ext>
          </a:extLst>
        </p:spPr>
        <p:txBody>
          <a:bodyPr anchor="ctr"/>
          <a:lstStyle>
            <a:lvl1pPr>
              <a:defRPr sz="900">
                <a:solidFill>
                  <a:srgbClr val="2E1B5B"/>
                </a:solidFill>
              </a:defRPr>
            </a:lvl1pPr>
          </a:lstStyle>
          <a:p>
            <a:pPr algn="r"/>
            <a:fld id="{F7021451-1387-4CA6-816F-3879F97B5CBC}" type="slidenum">
              <a:rPr lang="en-US" b="1"/>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914400"/>
            <a:ext cx="2743200" cy="274320"/>
          </a:xfrm>
          <a:prstGeom prst="rect">
            <a:avLst/>
          </a:prstGeom>
          <a:noFill/>
          <a:ln/>
        </p:spPr>
        <p:txBody>
          <a:bodyPr wrap="square" lIns="0" tIns="0" rIns="0" bIns="0" rtlCol="0" anchor="t"/>
          <a:lstStyle/>
          <a:p>
            <a:pPr marL="0" indent="0">
              <a:buNone/>
            </a:pPr>
            <a:r>
              <a:rPr lang="en-US" sz="1000" b="1" kern="0" spc="300" dirty="0">
                <a:solidFill>
                  <a:srgbClr val="E8639F"/>
                </a:solidFill>
                <a:latin typeface="Calibri" pitchFamily="34" charset="0"/>
                <a:ea typeface="Calibri" pitchFamily="34" charset="-122"/>
                <a:cs typeface="Calibri" pitchFamily="34" charset="-120"/>
              </a:rPr>
              <a:t>CLOSING</a:t>
            </a:r>
            <a:endParaRPr lang="en-US" sz="1000" dirty="0"/>
          </a:p>
        </p:txBody>
      </p:sp>
      <p:sp>
        <p:nvSpPr>
          <p:cNvPr id="3" name="Text 1"/>
          <p:cNvSpPr txBox="1"/>
          <p:nvPr/>
        </p:nvSpPr>
        <p:spPr>
          <a:xfrm>
            <a:off x="457200" y="1188720"/>
            <a:ext cx="4754880" cy="1554480"/>
          </a:xfrm>
          <a:prstGeom prst="rect">
            <a:avLst/>
          </a:prstGeom>
          <a:noFill/>
          <a:ln/>
        </p:spPr>
        <p:txBody>
          <a:bodyPr wrap="square" lIns="0" tIns="0" rIns="0" bIns="0" rtlCol="0" anchor="t"/>
          <a:lstStyle/>
          <a:p>
            <a:pPr marL="0" indent="0">
              <a:buNone/>
            </a:pPr>
            <a:r>
              <a:rPr lang="en-US" sz="4200" b="1" dirty="0">
                <a:solidFill>
                  <a:srgbClr val="2E1B5B"/>
                </a:solidFill>
                <a:latin typeface="Georgia" pitchFamily="34" charset="0"/>
                <a:ea typeface="Georgia" pitchFamily="34" charset="-122"/>
                <a:cs typeface="Georgia" pitchFamily="34" charset="-120"/>
              </a:rPr>
              <a:t>Thank You</a:t>
            </a:r>
            <a:endParaRPr lang="en-US" sz="4200" dirty="0"/>
          </a:p>
          <a:p>
            <a:pPr marL="0" indent="0">
              <a:buNone/>
            </a:pPr>
            <a:r>
              <a:rPr lang="en-US" sz="4200" b="1" dirty="0">
                <a:solidFill>
                  <a:srgbClr val="E8639F"/>
                </a:solidFill>
                <a:latin typeface="Georgia" pitchFamily="34" charset="0"/>
                <a:ea typeface="Georgia" pitchFamily="34" charset="-122"/>
                <a:cs typeface="Georgia" pitchFamily="34" charset="-120"/>
              </a:rPr>
              <a:t>Questions?</a:t>
            </a:r>
            <a:endParaRPr lang="en-US" sz="4200" dirty="0"/>
          </a:p>
        </p:txBody>
      </p:sp>
      <p:sp>
        <p:nvSpPr>
          <p:cNvPr id="4" name="Text 2"/>
          <p:cNvSpPr txBox="1"/>
          <p:nvPr/>
        </p:nvSpPr>
        <p:spPr>
          <a:xfrm>
            <a:off x="457200" y="2788920"/>
            <a:ext cx="4754880" cy="274320"/>
          </a:xfrm>
          <a:prstGeom prst="rect">
            <a:avLst/>
          </a:prstGeom>
          <a:noFill/>
          <a:ln/>
        </p:spPr>
        <p:txBody>
          <a:bodyPr wrap="square" lIns="0" tIns="0" rIns="0" bIns="0" rtlCol="0" anchor="t"/>
          <a:lstStyle/>
          <a:p>
            <a:pPr marL="0" indent="0">
              <a:buNone/>
            </a:pPr>
            <a:r>
              <a:rPr lang="en-US" sz="1300" i="1" dirty="0">
                <a:solidFill>
                  <a:srgbClr val="6F7399"/>
                </a:solidFill>
                <a:latin typeface="Calibri" pitchFamily="34" charset="0"/>
                <a:ea typeface="Calibri" pitchFamily="34" charset="-122"/>
                <a:cs typeface="Calibri" pitchFamily="34" charset="-120"/>
              </a:rPr>
              <a:t>Inspiring Minds. Shaping Tomorrow.</a:t>
            </a:r>
            <a:endParaRPr lang="en-US" sz="1300" dirty="0"/>
          </a:p>
        </p:txBody>
      </p:sp>
      <p:sp>
        <p:nvSpPr>
          <p:cNvPr id="5" name="Field: GITHUB REPOSITORY"/>
          <p:cNvSpPr/>
          <p:nvPr/>
        </p:nvSpPr>
        <p:spPr>
          <a:xfrm>
            <a:off x="457200"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GITHUB REPOSITORY</a:t>
            </a:r>
            <a:endParaRPr lang="en-US" sz="900" dirty="0"/>
          </a:p>
          <a:p>
            <a:r>
              <a:rPr lang="en-US" sz="900" dirty="0"/>
              <a:t>https://github.com/vtu-qiskit-fall-fest-2026/vtu-hc-quantum-astra</a:t>
            </a:r>
          </a:p>
        </p:txBody>
      </p:sp>
      <p:sp>
        <p:nvSpPr>
          <p:cNvPr id="6" name="Field: DEMO VIDEO LINK"/>
          <p:cNvSpPr/>
          <p:nvPr/>
        </p:nvSpPr>
        <p:spPr>
          <a:xfrm>
            <a:off x="2834640" y="3291840"/>
            <a:ext cx="2286000" cy="530352"/>
          </a:xfrm>
          <a:prstGeom prst="roundRect">
            <a:avLst>
              <a:gd name="adj" fmla="val 10345"/>
            </a:avLst>
          </a:prstGeom>
          <a:solidFill>
            <a:srgbClr val="FFFFFF"/>
          </a:solidFill>
          <a:ln w="9525">
            <a:solidFill>
              <a:srgbClr val="B8BDEB"/>
            </a:solidFill>
          </a:ln>
        </p:spPr>
        <p:txBody>
          <a:bodyPr wrap="square" lIns="63500" tIns="114300" rIns="114300" bIns="38100" rtlCol="0" anchor="t"/>
          <a:lstStyle/>
          <a:p>
            <a:pPr marL="0" indent="0" algn="l">
              <a:buNone/>
            </a:pPr>
            <a:r>
              <a:rPr lang="en-US" sz="900" b="1" kern="0" spc="100" dirty="0">
                <a:solidFill>
                  <a:srgbClr val="5B3BA8"/>
                </a:solidFill>
                <a:latin typeface="Calibri" pitchFamily="34" charset="0"/>
                <a:ea typeface="Calibri" pitchFamily="34" charset="-122"/>
                <a:cs typeface="Calibri" pitchFamily="34" charset="-120"/>
              </a:rPr>
              <a:t>DEMO VIDEO LINK</a:t>
            </a:r>
            <a:endParaRPr lang="en-US" sz="900" dirty="0"/>
          </a:p>
          <a:p>
            <a:r>
              <a:rPr lang="en-US" sz="900" dirty="0"/>
              <a:t>https://youtu.be/p92FF1HiGME?si=dctHeeCPM6XOI9Vm</a:t>
            </a:r>
          </a:p>
        </p:txBody>
      </p:sp>
      <p:pic>
        <p:nvPicPr>
          <p:cNvPr id="7" name="Bloch sphere ring" descr="sphere.png"/>
          <p:cNvPicPr>
            <a:picLocks noChangeAspect="1"/>
          </p:cNvPicPr>
          <p:nvPr/>
        </p:nvPicPr>
        <p:blipFill>
          <a:blip r:embed="rId3"/>
          <a:stretch>
            <a:fillRect/>
          </a:stretch>
        </p:blipFill>
        <p:spPr>
          <a:xfrm>
            <a:off x="5486400" y="1097280"/>
            <a:ext cx="3200400" cy="3200400"/>
          </a:xfrm>
          <a:prstGeom prst="rect">
            <a:avLst/>
          </a:prstGeom>
        </p:spPr>
      </p:pic>
      <p:pic>
        <p:nvPicPr>
          <p:cNvPr id="8" name="Image 1" descr="bird1.png"/>
          <p:cNvPicPr>
            <a:picLocks noChangeAspect="1"/>
          </p:cNvPicPr>
          <p:nvPr/>
        </p:nvPicPr>
        <p:blipFill>
          <a:blip r:embed="rId4"/>
          <a:stretch>
            <a:fillRect/>
          </a:stretch>
        </p:blipFill>
        <p:spPr>
          <a:xfrm>
            <a:off x="5029200" y="914400"/>
            <a:ext cx="822960" cy="493776"/>
          </a:xfrm>
          <a:prstGeom prst="rect">
            <a:avLst/>
          </a:prstGeom>
        </p:spPr>
      </p:pic>
      <p:pic>
        <p:nvPicPr>
          <p:cNvPr id="9" name="Image 2" descr="bird2.png"/>
          <p:cNvPicPr>
            <a:picLocks noChangeAspect="1"/>
          </p:cNvPicPr>
          <p:nvPr/>
        </p:nvPicPr>
        <p:blipFill>
          <a:blip r:embed="rId5"/>
          <a:stretch>
            <a:fillRect/>
          </a:stretch>
        </p:blipFill>
        <p:spPr>
          <a:xfrm>
            <a:off x="4754880" y="3840480"/>
            <a:ext cx="548640" cy="329184"/>
          </a:xfrm>
          <a:prstGeom prst="rect">
            <a:avLst/>
          </a:prstGeom>
        </p:spPr>
      </p:pic>
      <p:pic>
        <p:nvPicPr>
          <p:cNvPr id="10" name="Image 3" descr="bird3.png"/>
          <p:cNvPicPr>
            <a:picLocks noChangeAspect="1"/>
          </p:cNvPicPr>
          <p:nvPr/>
        </p:nvPicPr>
        <p:blipFill>
          <a:blip r:embed="rId6"/>
          <a:stretch>
            <a:fillRect/>
          </a:stretch>
        </p:blipFill>
        <p:spPr>
          <a:xfrm>
            <a:off x="8229600" y="4023360"/>
            <a:ext cx="457200" cy="274320"/>
          </a:xfrm>
          <a:prstGeom prst="rect">
            <a:avLst/>
          </a:prstGeom>
        </p:spPr>
      </p:pic>
    </p:spTree>
  </p:cSld>
  <p:clrMapOvr>
    <a:masterClrMapping/>
  </p:clrMapOvr>
</p:sld>
</file>

<file path=ppt/theme/theme1.xml><?xml version="1.0" encoding="utf-8"?>
<a:theme xmlns:a="http://schemas.openxmlformats.org/drawingml/2006/main" name="Qiskit Fall Fest">
  <a:themeElements>
    <a:clrScheme name="Qiskit Fall Fest">
      <a:dk1>
        <a:srgbClr val="2E1B5B"/>
      </a:dk1>
      <a:lt1>
        <a:srgbClr val="FFFFFF"/>
      </a:lt1>
      <a:dk2>
        <a:srgbClr val="4B2BA8"/>
      </a:dk2>
      <a:lt2>
        <a:srgbClr val="DDE2FC"/>
      </a:lt2>
      <a:accent1>
        <a:srgbClr val="E0558F"/>
      </a:accent1>
      <a:accent2>
        <a:srgbClr val="6B3FD4"/>
      </a:accent2>
      <a:accent3>
        <a:srgbClr val="F5C33B"/>
      </a:accent3>
      <a:accent4>
        <a:srgbClr val="3B82F6"/>
      </a:accent4>
      <a:accent5>
        <a:srgbClr val="7B58B8"/>
      </a:accent5>
      <a:accent6>
        <a:srgbClr val="2BB5A0"/>
      </a:accent6>
      <a:hlink>
        <a:srgbClr val="6B3FD4"/>
      </a:hlink>
      <a:folHlink>
        <a:srgbClr val="4B2BA8"/>
      </a:folHlink>
    </a:clrScheme>
    <a:fontScheme name="Qiskit Fall Fest">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823</Words>
  <Application>Microsoft Office PowerPoint</Application>
  <PresentationFormat>On-screen Show (16:9)</PresentationFormat>
  <Paragraphs>134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Georgia</vt:lpstr>
      <vt:lpstr>Nirmala UI</vt:lpstr>
      <vt:lpstr>Qiskit Fall Fest</vt:lpstr>
      <vt:lpstr>PowerPoint Presentation</vt:lpstr>
      <vt:lpstr>Problem Statement</vt:lpstr>
      <vt:lpstr>Objectives &amp; Novelty</vt:lpstr>
      <vt:lpstr>Solution &amp; Quantum Advantage</vt:lpstr>
      <vt:lpstr>Algorithm &amp; Circuit Design</vt:lpstr>
      <vt:lpstr>Implementation &amp; Tech Stack</vt:lpstr>
      <vt:lpstr>Results &amp; Analysis</vt:lpstr>
      <vt:lpstr>Impact &amp; Real-World Applications</vt:lpstr>
      <vt:lpstr>Challenges &amp; Future Scope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Sagar Zingade</dc:creator>
  <cp:lastModifiedBy>Sagar Zingade</cp:lastModifiedBy>
  <cp:revision>2</cp:revision>
  <dcterms:modified xsi:type="dcterms:W3CDTF">2026-10-23T08:41:27Z</dcterms:modified>
</cp:coreProperties>
</file>